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C8B06C-1C74-40C7-B684-7BF7C5CC7B7A}">
  <a:tblStyle styleId="{98C8B06C-1C74-40C7-B684-7BF7C5CC7B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db00cfa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db00cfa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5d6c458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5d6c458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d6c4583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5d6c4583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d6c4583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d6c4583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5d6c4583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5d6c4583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d6c4583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5d6c4583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d6c4583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5d6c4583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d6c4583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5d6c4583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5d6c4583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5d6c4583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5d6c4583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5d6c4583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5d6c4583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5d6c4583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5d6c4583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5d6c4583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d6c4583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5d6c4583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5d6c4583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5d6c4583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5d6c4583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5d6c4583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5d6c4583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5d6c4583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9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Open Sans"/>
                <a:ea typeface="Open Sans"/>
                <a:cs typeface="Open Sans"/>
                <a:sym typeface="Open Sans"/>
              </a:rPr>
              <a:t>JSON vs Protocol Buffers in Microservice Serialization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0623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Open Sans"/>
                <a:ea typeface="Open Sans"/>
                <a:cs typeface="Open Sans"/>
                <a:sym typeface="Open Sans"/>
              </a:rPr>
              <a:t>Lucas Vilar &amp; Bernardo Ventura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75679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pt-BR" sz="1240">
                <a:latin typeface="Open Sans"/>
                <a:ea typeface="Open Sans"/>
                <a:cs typeface="Open Sans"/>
                <a:sym typeface="Open Sans"/>
              </a:rPr>
              <a:t>Assignment #1 – Data Representation &amp; Serialization Formats</a:t>
            </a:r>
            <a:endParaRPr b="1" sz="124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24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pt-BR" sz="1240">
                <a:latin typeface="Open Sans"/>
                <a:ea typeface="Open Sans"/>
                <a:cs typeface="Open Sans"/>
                <a:sym typeface="Open Sans"/>
              </a:rPr>
              <a:t>Integração de Sistemas</a:t>
            </a:r>
            <a:endParaRPr b="1" sz="124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 sz="1240">
                <a:latin typeface="Open Sans"/>
                <a:ea typeface="Open Sans"/>
                <a:cs typeface="Open Sans"/>
                <a:sym typeface="Open Sans"/>
              </a:rPr>
              <a:t>Mestrado em Engenharia Informática, Universidade de Coimbra</a:t>
            </a:r>
            <a:endParaRPr sz="124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122" y="3788527"/>
            <a:ext cx="2253752" cy="67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Hypothesis &amp; Metrics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Hypothesis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 a local microservices setting, for small message sizes, the structural encoding overhead of Protocol Buffers may outweigh its compactness benefits, allowing JSON to achieve lower end-to-end latency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Metrics Measured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Serialization time: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Object → serialized format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Deserialization time: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Serialized format → objec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End-to-end latency: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Serialize + transmit + deserialize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Message size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Transmission was simulated by copying the byte array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Experiment Setup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Implementation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Language: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Java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Libraries: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Jackson for JSON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Google Protocol Buffers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Data model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Product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id:   </a:t>
            </a:r>
            <a:r>
              <a:rPr lang="pt-BR">
                <a:solidFill>
                  <a:schemeClr val="dk2"/>
                </a:solidFill>
                <a:highlight>
                  <a:srgbClr val="EFEFEF"/>
                </a:highlight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>
              <a:solidFill>
                <a:schemeClr val="dk2"/>
              </a:solidFill>
              <a:highlight>
                <a:srgbClr val="EFEFE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name: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pt-BR">
                <a:solidFill>
                  <a:schemeClr val="dk2"/>
                </a:solidFill>
                <a:highlight>
                  <a:srgbClr val="EFEFEF"/>
                </a:highlight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price: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pt-BR">
                <a:solidFill>
                  <a:schemeClr val="dk2"/>
                </a:solidFill>
                <a:highlight>
                  <a:srgbClr val="EFEFEF"/>
                </a:highlight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category: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pt-BR">
                <a:solidFill>
                  <a:schemeClr val="dk2"/>
                </a:solidFill>
                <a:highlight>
                  <a:srgbClr val="EFEFEF"/>
                </a:highlight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stockQuantity: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pt-BR">
                <a:solidFill>
                  <a:schemeClr val="dk2"/>
                </a:solidFill>
                <a:highlight>
                  <a:srgbClr val="EFEFE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Payload sizes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Small: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5 products</a:t>
            </a:r>
            <a:endParaRPr>
              <a:solidFill>
                <a:schemeClr val="dk2"/>
              </a:solidFill>
              <a:highlight>
                <a:srgbClr val="EFEFE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Medium: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100 products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Large: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10,000 products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Iterations per trial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Small: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1,000,000</a:t>
            </a:r>
            <a:endParaRPr>
              <a:solidFill>
                <a:schemeClr val="dk2"/>
              </a:solidFill>
              <a:highlight>
                <a:srgbClr val="EFEFE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Medium: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10,000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Large: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1,000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Trials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10 trials per format and payload size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Additional details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Each trial starts with a </a:t>
            </a: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warmup phase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using the same number of iterations as the main trial to let the JVM JIT optimize the code (the effect of this warmup will be shown in the upcoming slides)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Iteration counts per payload size were chosen to balance measurement accuracy and total runtime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Experiment Setup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We performed the benchmark 3 times to test reproducibility and explore slightly different configurations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Table: Benchmark Run Configurations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results for this run and the other runs can be found in the final slides of the presentation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Benchmark Runs Overview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492900" y="216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{98C8B06C-1C74-40C7-B684-7BF7C5CC7B7A}</a:tableStyleId>
              </a:tblPr>
              <a:tblGrid>
                <a:gridCol w="722000"/>
                <a:gridCol w="1399525"/>
                <a:gridCol w="1768525"/>
                <a:gridCol w="1738675"/>
                <a:gridCol w="1218125"/>
                <a:gridCol w="18817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Run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Small (5 items)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 (</a:t>
                      </a: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 items</a:t>
                      </a: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Large (</a:t>
                      </a: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10,000 items</a:t>
                      </a: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Trials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time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500,000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07:07 min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1,000,000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2,500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31:05 min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1,000,000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1,000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07:56 min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4929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Small (5 items)  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5,284.0 ns  (σ = ±  1.4%)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646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Medium (100 items)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98,558.9 ns  (σ = ±  4.0%)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12.82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Large (10,000 items)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11,174,756.2 ns  (σ = ±  0.8%)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1.27 MB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Benchmark Run 3 Results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5720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Small (5 items)  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1,585.0 ns  (σ = ±  1.5%)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344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Medium (100 items)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28,797.3 ns  (σ = ±  2.6%)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6.94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Large (10,000 items)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3,705,992.6 ns  (σ = ±  3.4%)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714.41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Hypothesis: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 a local microservices setting, for small message sizes, the structural encoding overhead of Protocol Buffers may outweigh its compactness benefits, allowing JSON to achieve lower end-to-end latency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Result: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Hypothesis invalidated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Metrics Observed: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Serialization time: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consistently lower for Protocol Buffers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Deserialization time: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consistently lower for Protocol Buffers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End-to-end latency: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Protocol Buffers faster even for small payloads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Message size: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smaller messages with Protocol Buffers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Observation: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All measured metrics favored Protocol Buffers, showing its advantage even for small messages.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Next: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Explore the impact of JVM warmup and reproducibility in the upcoming slides.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Main Benchmark Warmup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Each trial starts with a warmup phase to let the JVM JIT optimize the code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warmup uses the same number of iterations as the main trial, but this is a design choice, not a rule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Separate Warmup Impact Test</a:t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We also ran a dedicated test with a small payload: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Without warmup: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1,000 iterations measured directly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With warmup: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1,000 warmup iterations + 1,000 measured iterations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This test is only to illustrate the effect of the warmup on execution times and does not affect the main benchmark results.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Upcoming slides will compare results with vs. without warmup.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Impact of JVM Warmup on Results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Impact of JVM Warmup on Results - Run 1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5" name="Google Shape;115;p21" title="20260306_202816_no_warm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600"/>
            <a:ext cx="9128898" cy="452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Impact of JVM Warmup on Results - Run 1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2" name="Google Shape;122;p22" title="20260306_202816_with_warm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6107"/>
            <a:ext cx="9143999" cy="453739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Impact of JVM Warmup on Results - Run 2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" name="Google Shape;129;p23" title="20260306_212407_no_warm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600"/>
            <a:ext cx="9128898" cy="452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Impact of JVM Warmup on Results - Run 2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6" name="Google Shape;136;p24" title="20260306_212407_with_warm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600"/>
            <a:ext cx="9128898" cy="452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492900" y="834600"/>
            <a:ext cx="81582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Device: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Lenovo5i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Operating System: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Windows 11, 64-bit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Processor: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11th Gen Intel® Core™ i5-1135G7 @ 2.40GHz (2.42 GHz)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RAM Installed: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8 GB (usable: 7.56 GB)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System Type: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64-bit OS, x64-based processor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Key Libraries / Tools (Maven Dependencies)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Jackson Databind: 2.21.1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(protobuf-java): 4.33.5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JUnit: 3.8.1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Maven Plugins / Extensions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maven-compiler-plugin: 3.11.0 (source/target: 25)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protobuf-maven-plugin: 0.6.1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os-maven-plugin: 1.6.0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Default JVM settings, no significant background processes.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All experiments run locally, single-threaded benchmark.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Computer Setup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ctrTitle"/>
          </p:nvPr>
        </p:nvSpPr>
        <p:spPr>
          <a:xfrm>
            <a:off x="311708" y="49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Open Sans"/>
                <a:ea typeface="Open Sans"/>
                <a:cs typeface="Open Sans"/>
                <a:sym typeface="Open Sans"/>
              </a:rPr>
              <a:t>JSON vs Protocol Buffers in Microservice Serialization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26"/>
          <p:cNvSpPr txBox="1"/>
          <p:nvPr>
            <p:ph idx="1" type="subTitle"/>
          </p:nvPr>
        </p:nvSpPr>
        <p:spPr>
          <a:xfrm>
            <a:off x="311700" y="220623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Open Sans"/>
                <a:ea typeface="Open Sans"/>
                <a:cs typeface="Open Sans"/>
                <a:sym typeface="Open Sans"/>
              </a:rPr>
              <a:t>Lucas Vilar &amp; Bernardo Ventura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311700" y="275679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pt-BR" sz="1240">
                <a:latin typeface="Open Sans"/>
                <a:ea typeface="Open Sans"/>
                <a:cs typeface="Open Sans"/>
                <a:sym typeface="Open Sans"/>
              </a:rPr>
              <a:t>Thank you! Questions?</a:t>
            </a:r>
            <a:endParaRPr sz="124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122" y="3788527"/>
            <a:ext cx="2253752" cy="67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/>
        </p:nvSpPr>
        <p:spPr>
          <a:xfrm>
            <a:off x="4929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Small (5 items)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 1,639.7 ns  (σ = ±  7.8%)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3,177.9 ns  (σ = ±  7.7%)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5,251.6 ns  (σ = ± 11.9%)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656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Medium (100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31,944.5 ns  (σ = ±  4.9%)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66,272.6 ns  (σ = ±  3.0%)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98,734.4 ns  (σ = ±  2.1%)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12.79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Large (10,000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3,850,741.6 ns  (σ = ±  2.1%)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7,453,244.4 ns  (σ = ±  3.9%)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11,586,667.2 ns  (σ = ±  3.4%)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1.27 MB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Benchmark Run 1 Results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45720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Small (5 items) </a:t>
            </a: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 1,033.3 ns  (σ = ±  6.7%)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  608.0 ns  (σ = ±  5.0%)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1,680.3 ns  (σ = ±  3.0%)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356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Medium (100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19,423.7 ns  (σ = ±  5.1%)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10,351.1 ns  (σ = ±  4.8%)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31,015.7 ns  (σ = ±  2.3%)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6.92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Large (10,000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2,814,329.7 ns  (σ = ± 13.7%)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1,666,173.0 ns  (σ = ± 13.0%)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4,645,519.8 ns  (σ = ± 12.6%)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714.00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4929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Small (5 items)   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 1,513.8 ns  (σ = ±  2.8%)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3,138.6 ns  (σ = ±  4.2%)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4,987.9 ns  (σ = ±  8.4%)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644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Medium (100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31,636.5 ns  (σ = ±  4.8%)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66,304.8 ns  (σ = ±  4.7%)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102,044.7 ns  (σ = ±  5.0%)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12.78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Large (10,000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3,855,793.6 ns  (σ = ±  5.9%)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7,470,081.8 ns  (σ = ±  5.3%)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11,536,637.1 ns  (σ = ±  3.4%)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1.27 MB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Benchmark Run 2 Results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45720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Small (5 items)   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   888.4 ns  (σ = ± 10.3%)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  617.8 ns  (σ = ± 12.6%)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1,656.9 ns  (σ = ± 10.2%)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343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Medium (100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16,459.9 ns  (σ = ±  2.5%)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9,739.2 ns  (σ = ±  2.0%)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27,071.5 ns  (σ = ±  1.4%)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6.90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Large (10,000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2,237,022.5 ns  (σ = ± 13.3%)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1,464,374.9 ns  (σ = ± 18.6%)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3,809,524.7 ns  (σ = ± 12.9%)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714.01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4929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Small (5 items)   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 1,564.8 ns  (σ = ±  3.1%)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3,440.1 ns  (σ = ±  1.0%)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5,284.0 ns  (σ = ±  1.4%)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646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Medium (100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32,466.8 ns  (σ = ±  3.8%)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63,441.0 ns  (σ = ±  4.2%)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98,558.9 ns  (σ = ±  4.0%)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12.82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JSON (Jackson)          Large (10,000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3,671,663.3 ns  (σ = ±  1.4%)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7,186,753.6 ns  (σ = ±  1.6%)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11,174,756.2 ns  (σ = ±  0.8%)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1.27 MB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1902300" y="121000"/>
            <a:ext cx="533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</a:t>
            </a:r>
            <a:r>
              <a:rPr lang="pt-BR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Benchmark Run 3 Results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4572000" y="834600"/>
            <a:ext cx="4079100" cy="4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Small (5 items)   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   852.8 ns  (σ = ±  3.6%)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   589.2 ns  (σ = ±  3.2%)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 1,585.0 ns  (σ = ±  1.5%)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  344 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Medium (100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   17,525.8 ns  (σ = ±  4.4%)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   10,195.0 ns  (σ = ±  4.1%)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   28,797.3 ns  (σ = ±  2.6%)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  6.94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Protocol Buffers        Large (10,000 items)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Serialization:    2,171,748.7 ns  (σ = ±  2.7%)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Deserialization:  1,408,974.7 ns  (σ = ±  2.3%)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End-to-End:       3,705,992.6 ns  (σ = ±  3.4%)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Size:             714.41 KB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